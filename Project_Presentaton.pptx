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 Bold Italics" charset="1" panose="020F07020304040A0204"/>
      <p:regular r:id="rId22"/>
    </p:embeddedFont>
    <p:embeddedFont>
      <p:font typeface="Arial" charset="1" panose="020B0604020202020204"/>
      <p:regular r:id="rId26"/>
    </p:embeddedFont>
    <p:embeddedFont>
      <p:font typeface="Arial Bold" charset="1" panose="020B0704020202020204"/>
      <p:regular r:id="rId27"/>
    </p:embeddedFont>
    <p:embeddedFont>
      <p:font typeface="Times New Roman Bold" charset="1" panose="02020803070505020304"/>
      <p:regular r:id="rId28"/>
    </p:embeddedFont>
    <p:embeddedFont>
      <p:font typeface="Times New Roman" charset="1" panose="02020603050405020304"/>
      <p:regular r:id="rId39"/>
    </p:embeddedFont>
    <p:embeddedFont>
      <p:font typeface="Arimo" charset="1" panose="020B0604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https://github.com/dhanavikhyatpinnamareddy/Interview-Trainer-Agent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705474"/>
            </a:xfrm>
            <a:custGeom>
              <a:avLst/>
              <a:gdLst/>
              <a:ahLst/>
              <a:cxnLst/>
              <a:rect r="r" b="b" t="t" l="l"/>
              <a:pathLst>
                <a:path h="570547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031200" cy="5800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692"/>
                </a:lnSpc>
              </a:pPr>
              <a:r>
                <a:rPr lang="en-US" sz="99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University Engagement Project Submission</a:t>
              </a:r>
            </a:p>
            <a:p>
              <a:pPr algn="ctr">
                <a:lnSpc>
                  <a:spcPts val="1069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3516" y="5882145"/>
            <a:ext cx="15590549" cy="21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600" i="true">
                <a:solidFill>
                  <a:srgbClr val="88888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“Exploring the Power of Agentic AI with IBM Granite and LangFlow”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965679" y="3988375"/>
          <a:ext cx="14058900" cy="4156427"/>
        </p:xfrm>
        <a:graphic>
          <a:graphicData uri="http://schemas.openxmlformats.org/drawingml/2006/table">
            <a:tbl>
              <a:tblPr/>
              <a:tblGrid>
                <a:gridCol w="3094464"/>
                <a:gridCol w="3337999"/>
                <a:gridCol w="4510206"/>
                <a:gridCol w="3116231"/>
              </a:tblGrid>
              <a:tr h="14604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lang="en-US" sz="1100"/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6959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804131" y="5515228"/>
            <a:ext cx="1852936" cy="2413644"/>
          </a:xfrm>
          <a:custGeom>
            <a:avLst/>
            <a:gdLst/>
            <a:ahLst/>
            <a:cxnLst/>
            <a:rect r="r" b="b" t="t" l="l"/>
            <a:pathLst>
              <a:path h="2413644" w="1852936">
                <a:moveTo>
                  <a:pt x="0" y="0"/>
                </a:moveTo>
                <a:lnTo>
                  <a:pt x="1852936" y="0"/>
                </a:lnTo>
                <a:lnTo>
                  <a:pt x="1852936" y="2413644"/>
                </a:lnTo>
                <a:lnTo>
                  <a:pt x="0" y="2413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0685" y="2208228"/>
            <a:ext cx="1523750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of  Project – Education and Career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0685" y="845096"/>
            <a:ext cx="1418888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Tile – Interview Trainer Agent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463716" y="6013718"/>
            <a:ext cx="140589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Dhana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Vikhyat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Pinnamareddy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65734" y="6356618"/>
            <a:ext cx="140589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dhanavikhyatpinnamareddy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@gmail.com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00441" y="6580456"/>
            <a:ext cx="176554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9502856738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0175"/>
            <a:ext cx="16889381" cy="888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79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Challenge: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students and job seekers struggle to prepare effectively for technical and HR interviews. Interview preparation resources are  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scattered across multiple platforms, making it difficult to identify the right topics, create structured learning plans, and practice                 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relevant interview questions. Without personalized guidance and a systematic preparation strategy, candidates often lack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confidence,  overlook important concepts, and perform below their potential during interviews.</a:t>
            </a:r>
          </a:p>
          <a:p>
            <a:pPr algn="l">
              <a:lnSpc>
                <a:spcPts val="3350"/>
              </a:lnSpc>
            </a:pPr>
            <a:r>
              <a:rPr lang="en-US" sz="279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Objective:</a:t>
            </a:r>
          </a:p>
          <a:p>
            <a:pPr algn="l">
              <a:lnSpc>
                <a:spcPts val="2826"/>
              </a:lnSpc>
            </a:pP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Build an A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I-powered Interview Trainer Agent that delivers personalized interview preparation guidance for students and 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professionals. The solution should: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Personalized Preparation Roadmaps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Generate structured learning plans based on the user's target role, technology    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stack,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experience level.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Interview Topic Guidance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Recommend important concepts, subjects, and interview topics that need revision.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Coding Practice Suggestions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Suggest relevant coding problems, data structures, algorithms, and technical exercises.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 Interview Preparation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Provide role-specific technical interview guidance for domains such as Python, Java,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Frontend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Development, AI Engineering, and Software Development.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HR &amp; Behavioral Interview Support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Help users prepare for HR rounds, behavioral questions, communication skills, and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confidence building.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Interactive Mock Interview System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Conduct interview sessions by asking questions one at a time and evaluating user</a:t>
            </a:r>
          </a:p>
          <a:p>
            <a:pPr algn="l">
              <a:lnSpc>
                <a:spcPts val="2706"/>
              </a:lnSpc>
            </a:pPr>
            <a:r>
              <a:rPr lang="en-US" sz="22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responses.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Career Mentorship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Offer preparation strategies, learning recommendations, and improvement suggestions based on user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goals.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Context-Aware Guidance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Maintain conversation history to provide personalized and continuous interview preparation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support.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35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Domain-Restricted Assistant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Focus exclusively on interview preparation and career-related guidance to ensure accurate</a:t>
            </a:r>
          </a:p>
          <a:p>
            <a:pPr algn="l">
              <a:lnSpc>
                <a:spcPts val="2826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and </a:t>
            </a: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relevant responses.</a:t>
            </a:r>
          </a:p>
          <a:p>
            <a:pPr algn="l" marL="408119" indent="-204060" lvl="1">
              <a:lnSpc>
                <a:spcPts val="270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28663"/>
            <a:ext cx="1063904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-Interview Trainer Agent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10403"/>
            <a:ext cx="15727680" cy="716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designing and orchestrating the Interview Trainer Agent workflow through a visual drag-and-drop interface.</a:t>
            </a:r>
          </a:p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watsonx.ai 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Used for accessing and deploying foundation models to generate interview preparation guidance and career recommendations.</a:t>
            </a:r>
          </a:p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  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Used for natural language understanding, roadmap generation, interview question generation, and career mentoring.</a:t>
            </a:r>
          </a:p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 History Componen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– Used to maintain conversation context and provide personalized interview preparation support.</a:t>
            </a:r>
          </a:p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GitHub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project version control, documentation, and deployment of project resources.</a:t>
            </a:r>
          </a:p>
          <a:p>
            <a:pPr algn="l" marL="453390" indent="-226695" lvl="1">
              <a:lnSpc>
                <a:spcPts val="308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 Components Used:</a:t>
            </a:r>
          </a:p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1.Chat Input</a:t>
            </a:r>
          </a:p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2.Message History</a:t>
            </a:r>
          </a:p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3.IBM watsonx.ai Model</a:t>
            </a:r>
          </a:p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4.Chat Output</a:t>
            </a:r>
          </a:p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 Stack (Mandatory)</a:t>
            </a:r>
          </a:p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 used:</a:t>
            </a:r>
          </a:p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LangFlow + IBM watsonx.ai + Granite Models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55548" y="1073277"/>
            <a:ext cx="10639044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5548" y="1840230"/>
            <a:ext cx="15937191" cy="34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solution is an</a:t>
            </a:r>
            <a:r>
              <a:rPr lang="en-US" sz="212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AI-powered Interview Trainer Agent </a:t>
            </a: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using </a:t>
            </a:r>
            <a:r>
              <a:rPr lang="en-US" sz="212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212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IBM watsonx.ai</a:t>
            </a: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</a:t>
            </a:r>
            <a:r>
              <a:rPr lang="en-US" sz="212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IBM Granite 8B Code Instruct.</a:t>
            </a: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helps users prepare for technical and HR interviews by providing personalized interview roadmaps, role-specific guidance, and structured preparation strategies.</a:t>
            </a:r>
          </a:p>
          <a:p>
            <a:pPr algn="l">
              <a:lnSpc>
                <a:spcPts val="3043"/>
              </a:lnSpc>
            </a:pP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workflow uses </a:t>
            </a:r>
            <a:r>
              <a:rPr lang="en-US" sz="212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 History</a:t>
            </a: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maintain conversation context and IBM Granite 8B Code Instruct to generate accurate, interview-focused responses. LangFlow orchestrates the complete workflow, while watsonx.ai enables AI model deployment and processing.</a:t>
            </a:r>
          </a:p>
          <a:p>
            <a:pPr algn="l">
              <a:lnSpc>
                <a:spcPts val="3043"/>
              </a:lnSpc>
            </a:pPr>
            <a:r>
              <a:rPr lang="en-US" sz="21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delivers a personalized, interactive, and domain-restricted interview preparation experience, helping users improve confidence, technical knowledge, and interview performance.</a:t>
            </a:r>
          </a:p>
          <a:p>
            <a:pPr algn="l">
              <a:lnSpc>
                <a:spcPts val="30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55548" y="1073277"/>
            <a:ext cx="10639044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-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6386" y="456286"/>
            <a:ext cx="8863394" cy="70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3600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component Used 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6387" y="1283917"/>
            <a:ext cx="14104295" cy="37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Chat Input:  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Accepts interview-related queries from users.</a:t>
            </a:r>
          </a:p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 History: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and retrieves previous conversations to maintain context.</a:t>
            </a:r>
          </a:p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watsonx.ai Component: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Connects LangFlow with IBM watsonx.ai foundation models.</a:t>
            </a:r>
          </a:p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 8B Code Instruct: 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interview roadmaps, preparation guidance, and role-      specific responses.</a:t>
            </a:r>
          </a:p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Prompt: 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Restricts the agent to interview preparation and career guidance only.</a:t>
            </a:r>
          </a:p>
          <a:p>
            <a:pPr algn="l" marL="513232" indent="-256616" lvl="1">
              <a:lnSpc>
                <a:spcPts val="3755"/>
              </a:lnSpc>
              <a:buFont typeface="Arial"/>
              <a:buChar char="•"/>
            </a:pPr>
            <a:r>
              <a:rPr lang="en-US" b="true" sz="2377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Chat Output: </a:t>
            </a:r>
            <a:r>
              <a:rPr lang="en-US" sz="2377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AI-generated interview guidance and responses to the user.</a:t>
            </a:r>
          </a:p>
          <a:p>
            <a:pPr algn="l">
              <a:lnSpc>
                <a:spcPts val="358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8883" y="1573179"/>
            <a:ext cx="14687522" cy="7393562"/>
          </a:xfrm>
          <a:custGeom>
            <a:avLst/>
            <a:gdLst/>
            <a:ahLst/>
            <a:cxnLst/>
            <a:rect r="r" b="b" t="t" l="l"/>
            <a:pathLst>
              <a:path h="7393562" w="14687522">
                <a:moveTo>
                  <a:pt x="0" y="0"/>
                </a:moveTo>
                <a:lnTo>
                  <a:pt x="14687523" y="0"/>
                </a:lnTo>
                <a:lnTo>
                  <a:pt x="14687523" y="7393562"/>
                </a:lnTo>
                <a:lnTo>
                  <a:pt x="0" y="739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386" y="456286"/>
            <a:ext cx="8863394" cy="70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3600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workflow 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5913" y="1259463"/>
            <a:ext cx="12676175" cy="8450783"/>
          </a:xfrm>
          <a:custGeom>
            <a:avLst/>
            <a:gdLst/>
            <a:ahLst/>
            <a:cxnLst/>
            <a:rect r="r" b="b" t="t" l="l"/>
            <a:pathLst>
              <a:path h="8450783" w="12676175">
                <a:moveTo>
                  <a:pt x="0" y="0"/>
                </a:moveTo>
                <a:lnTo>
                  <a:pt x="12676174" y="0"/>
                </a:lnTo>
                <a:lnTo>
                  <a:pt x="12676174" y="8450783"/>
                </a:lnTo>
                <a:lnTo>
                  <a:pt x="0" y="8450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9740"/>
            <a:ext cx="886339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Blueprint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280" y="772251"/>
            <a:ext cx="17833720" cy="8742497"/>
          </a:xfrm>
          <a:custGeom>
            <a:avLst/>
            <a:gdLst/>
            <a:ahLst/>
            <a:cxnLst/>
            <a:rect r="r" b="b" t="t" l="l"/>
            <a:pathLst>
              <a:path h="8742497" w="17833720">
                <a:moveTo>
                  <a:pt x="0" y="0"/>
                </a:moveTo>
                <a:lnTo>
                  <a:pt x="17833720" y="0"/>
                </a:lnTo>
                <a:lnTo>
                  <a:pt x="17833720" y="8742498"/>
                </a:lnTo>
                <a:lnTo>
                  <a:pt x="0" y="874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7" r="0" b="-91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7979" y="1751238"/>
            <a:ext cx="4523013" cy="6784524"/>
            <a:chOff x="0" y="0"/>
            <a:chExt cx="6030684" cy="90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30722" cy="9046083"/>
            </a:xfrm>
            <a:custGeom>
              <a:avLst/>
              <a:gdLst/>
              <a:ahLst/>
              <a:cxnLst/>
              <a:rect r="r" b="b" t="t" l="l"/>
              <a:pathLst>
                <a:path h="9046083" w="6030722">
                  <a:moveTo>
                    <a:pt x="0" y="0"/>
                  </a:moveTo>
                  <a:lnTo>
                    <a:pt x="6030722" y="0"/>
                  </a:lnTo>
                  <a:lnTo>
                    <a:pt x="6030722" y="9046083"/>
                  </a:lnTo>
                  <a:lnTo>
                    <a:pt x="0" y="9046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4672" y="451866"/>
            <a:ext cx="13793724" cy="8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787433"/>
            <a:ext cx="10540883" cy="987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1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enables the Interview Trainer Agent to function as an intelligent career mentor rather than a simple chatbot. It understands user goals, analyzes the interview role or technology specified by the user, and provides personalized preparation guidance.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21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agent generates structured learning roadmaps, recommends important topics, suggests coding practice areas, and provides interview preparation strategies based on the user's needs. By maintaining conversation history, it delivers context-aware and adaptive responses throughout the preparation process.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21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also ensures that the system remains focused on interview preparation and career guidance, providing relevant and goal-oriented assistance. This helps users improve their technical knowledge, communication skills, confidence, and overall interview readiness.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  <a:r>
              <a:rPr lang="en-US" sz="21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summary, Agentic AI makes the Interview Trainer Agent personalized, context-aware, adaptive, and focused on helping users succeed in interviews.</a:t>
            </a: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55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744093"/>
            <a:ext cx="10501884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7300" y="1808607"/>
            <a:ext cx="16386623" cy="579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605" indent="-266303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designing and orchestrating the Interview Trainer Agent workflow through a visual drag-and-drop interface.</a:t>
            </a:r>
          </a:p>
          <a:p>
            <a:pPr algn="l" marL="532605" indent="-266303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watsonx.ai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accessing and deploying AI foundation models to generate interview preparation guidance.</a:t>
            </a:r>
          </a:p>
          <a:p>
            <a:pPr algn="l" marL="532605" indent="-266303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 8B Code Instruct 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Used for generating interview roadmaps, technical guidance, interview questions, and career preparation recommendations.</a:t>
            </a:r>
          </a:p>
          <a:p>
            <a:pPr algn="l" marL="635389" indent="-317694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 History Component –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to maintain conversation context and provide personalized responses.</a:t>
            </a:r>
          </a:p>
          <a:p>
            <a:pPr algn="l" marL="532605" indent="-266303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Cloud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Provides the cloud infrastructure for running and managing AI services.</a:t>
            </a:r>
          </a:p>
          <a:p>
            <a:pPr algn="l" marL="532605" indent="-266303" lvl="1">
              <a:lnSpc>
                <a:spcPts val="3884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GitHub </a:t>
            </a:r>
            <a:r>
              <a:rPr lang="en-US" sz="29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Used for project version control, documentation, and repository management.</a:t>
            </a:r>
          </a:p>
          <a:p>
            <a:pPr algn="l">
              <a:lnSpc>
                <a:spcPts val="3745"/>
              </a:lnSpc>
            </a:pPr>
          </a:p>
          <a:p>
            <a:pPr algn="l" marL="513584" indent="-256792" lvl="1">
              <a:lnSpc>
                <a:spcPts val="37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744093"/>
            <a:ext cx="1050188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Novelty and Uniqueness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7300" y="1803802"/>
            <a:ext cx="16770096" cy="619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ersonalized Interview Preparation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Generates customiz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 roa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and g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nce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based on the user's target role and technology.</a:t>
            </a:r>
          </a:p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Context-Aware Responses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onversation history to provide relevant and adaptive recommendations.</a:t>
            </a:r>
          </a:p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Domain-Restricted Intelligence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Focuses exclusively on interview preparation and career guidance, ensuring accurate and goal-oriented responses.</a:t>
            </a:r>
          </a:p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Interactive Learning Approach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Guides users through structured preparation rather than simply answering questions.</a:t>
            </a:r>
          </a:p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Role-Specific Guidance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Supports interview preparation for tech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olog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Python, Java, Frontend Development, and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oftw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En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ng.</a:t>
            </a:r>
          </a:p>
          <a:p>
            <a:pPr algn="l" marL="582930" indent="-291465" lvl="1">
              <a:lnSpc>
                <a:spcPts val="3752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Powered by IBM watsonx.ai and Granite Models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Leverages enterprise-grade AI models to delive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and pro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preparation support.</a:t>
            </a:r>
          </a:p>
          <a:p>
            <a:pPr algn="l">
              <a:lnSpc>
                <a:spcPts val="375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086" y="373923"/>
            <a:ext cx="9666742" cy="80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5325" y="2516793"/>
            <a:ext cx="12997349" cy="265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302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github.com/dhanavikhyatpinnamareddy/Interview-Trainer-Agent"/>
              </a:rPr>
              <a:t>https://github.com/dhanavikhyatpinnamareddy/Interview-Trainer-Agent</a:t>
            </a:r>
          </a:p>
          <a:p>
            <a:pPr algn="l">
              <a:lnSpc>
                <a:spcPts val="4229"/>
              </a:lnSpc>
            </a:pPr>
          </a:p>
          <a:p>
            <a:pPr algn="l">
              <a:lnSpc>
                <a:spcPts val="4229"/>
              </a:lnSpc>
            </a:pPr>
          </a:p>
          <a:p>
            <a:pPr algn="l">
              <a:lnSpc>
                <a:spcPts val="4229"/>
              </a:lnSpc>
            </a:pPr>
          </a:p>
          <a:p>
            <a:pPr algn="l">
              <a:lnSpc>
                <a:spcPts val="422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086" y="373923"/>
            <a:ext cx="966674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86" y="1765897"/>
            <a:ext cx="13821870" cy="618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Resume Analyzer </a:t>
            </a: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Analyze user resumes and provide personalized interview preparation plans.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Mock Interview System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Conduct interactive technical and HR mock interviews with performance evaluation.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Voice-Based Interview Training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Enable users to practice interviews through voice conversations and receive feedback.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Company-Specific Preparation 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Provide interview questions and preparation strategies tailored to specific companies.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 Tracking Dashboard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Monitor learning progress, completed topics, and interview readiness over time.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Multi-Agent Architecture</a:t>
            </a:r>
            <a:r>
              <a:rPr lang="en-US" sz="2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Introduce specialized agents for Technical Interviews, HR Interviews, DSA Preparation, and Career Guidance.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85449"/>
            <a:ext cx="18288000" cy="3716093"/>
            <a:chOff x="0" y="0"/>
            <a:chExt cx="24384000" cy="4954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4778"/>
            </a:xfrm>
            <a:custGeom>
              <a:avLst/>
              <a:gdLst/>
              <a:ahLst/>
              <a:cxnLst/>
              <a:rect r="r" b="b" t="t" l="l"/>
              <a:pathLst>
                <a:path h="49547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DAHLIXX23dY</dc:identifier>
  <dcterms:modified xsi:type="dcterms:W3CDTF">2011-08-01T06:04:30Z</dcterms:modified>
  <cp:revision>1</cp:revision>
  <dc:title>8_Project_Submission_Template_for_EduentFoundation_IBMUniversityEngagement.pptx</dc:title>
</cp:coreProperties>
</file>